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B6D8D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7B6D8D"/>
                </a:solidFill>
                <a:latin typeface="Arial"/>
              </a:rPr>
              <a:t>Hospital Management System — 5 Year Projection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Maintenance Cost ($)</c:v>
                </c:pt>
              </c:strCache>
            </c:strRef>
          </c:tx>
          <c:spPr>
            <a:solidFill>
              <a:srgbClr val="B39D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B9-40BB-856C-AD8E8BAF83CF}"/>
              </c:ext>
            </c:extLst>
          </c:dPt>
          <c:dPt>
            <c:idx val="1"/>
            <c:invertIfNegative val="0"/>
            <c:bubble3D val="0"/>
            <c:spPr>
              <a:solidFill>
                <a:srgbClr val="F06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B9-40BB-856C-AD8E8BAF83CF}"/>
              </c:ext>
            </c:extLst>
          </c:dPt>
          <c:dPt>
            <c:idx val="2"/>
            <c:invertIfNegative val="0"/>
            <c:bubble3D val="0"/>
            <c:spPr>
              <a:solidFill>
                <a:srgbClr val="64B5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B9-40BB-856C-AD8E8BAF83CF}"/>
              </c:ext>
            </c:extLst>
          </c:dPt>
          <c:dPt>
            <c:idx val="3"/>
            <c:invertIfNegative val="0"/>
            <c:bubble3D val="0"/>
            <c:spPr>
              <a:solidFill>
                <a:srgbClr val="4DB6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B9-40BB-856C-AD8E8BAF83CF}"/>
              </c:ext>
            </c:extLst>
          </c:dPt>
          <c:dPt>
            <c:idx val="4"/>
            <c:invertIfNegative val="0"/>
            <c:bubble3D val="0"/>
            <c:spPr>
              <a:solidFill>
                <a:srgbClr val="FFAB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B9-40BB-856C-AD8E8BAF83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D2C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33000</c:v>
                </c:pt>
                <c:pt idx="1">
                  <c:v>35100</c:v>
                </c:pt>
                <c:pt idx="2">
                  <c:v>37300</c:v>
                </c:pt>
                <c:pt idx="3">
                  <c:v>39600</c:v>
                </c:pt>
                <c:pt idx="4">
                  <c:v>41900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B9-40BB-856C-AD8E8BAF83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6D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0160" cap="flat">
              <a:solidFill>
                <a:srgbClr val="EDE7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6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262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548640"/>
            <a:ext cx="2926080" cy="29260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3017520"/>
            <a:ext cx="2560320" cy="256032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-457200"/>
            <a:ext cx="1645920" cy="1645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457200"/>
            <a:ext cx="7132320" cy="4251960"/>
          </a:xfrm>
          <a:prstGeom prst="roundRect">
            <a:avLst>
              <a:gd name="adj" fmla="val 6022"/>
            </a:avLst>
          </a:prstGeom>
          <a:solidFill>
            <a:srgbClr val="FFFFFF">
              <a:alpha val="78000"/>
            </a:srgbClr>
          </a:solidFill>
          <a:ln w="19050">
            <a:solidFill>
              <a:srgbClr val="B39DDB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621792"/>
            <a:ext cx="1097280" cy="109728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05072" y="640080"/>
            <a:ext cx="1133856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6400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MaintainIQ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26060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Maintenance Cost Estimator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67328" y="3090672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33088" y="3090672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8848" y="3090672"/>
            <a:ext cx="128016" cy="128016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64608" y="3090672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30368" y="3090672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331012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Model to Estimate Annual Software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for 05+ Year Lifecycles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4370832"/>
            <a:ext cx="2926080" cy="475488"/>
          </a:xfrm>
          <a:prstGeom prst="roundRect">
            <a:avLst>
              <a:gd name="adj" fmla="val 50000"/>
            </a:avLst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0" y="43708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13  •  Software Engineering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3474720"/>
            <a:ext cx="2286000" cy="228600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 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3474720"/>
          </a:xfrm>
          <a:prstGeom prst="roundRect">
            <a:avLst>
              <a:gd name="adj" fmla="val 9091"/>
            </a:avLst>
          </a:prstGeom>
          <a:solidFill>
            <a:srgbClr val="FCE4EC"/>
          </a:solidFill>
          <a:ln w="2540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051560"/>
            <a:ext cx="914400" cy="91440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0789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Ali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42032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044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914400"/>
            <a:ext cx="2011680" cy="3474720"/>
          </a:xfrm>
          <a:prstGeom prst="roundRect">
            <a:avLst>
              <a:gd name="adj" fmla="val 9091"/>
            </a:avLst>
          </a:prstGeom>
          <a:solidFill>
            <a:srgbClr val="EDE7F6"/>
          </a:solidFill>
          <a:ln w="2540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63240" y="1051560"/>
            <a:ext cx="914400" cy="9144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63240" y="10789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👨‍💻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Rayyan Hussain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542032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71800" y="2571750"/>
            <a:ext cx="1097280" cy="317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047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2011680" cy="3474720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2540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57800" y="1051560"/>
            <a:ext cx="914400" cy="91440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57800" y="10789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👩‍💻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0916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Areej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66360" y="2542032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25420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048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914400"/>
            <a:ext cx="2011680" cy="3474720"/>
          </a:xfrm>
          <a:prstGeom prst="roundRect">
            <a:avLst>
              <a:gd name="adj" fmla="val 9091"/>
            </a:avLst>
          </a:prstGeom>
          <a:solidFill>
            <a:srgbClr val="E0F2F1"/>
          </a:solidFill>
          <a:ln w="2540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52360" y="1051560"/>
            <a:ext cx="914400" cy="9144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52360" y="10789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👩‍💻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03720" y="20848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60920" y="2542032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60920" y="25420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049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Table of Contents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EDE7F6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96696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96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9875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MaintainIQ?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FCE4EC"/>
          </a:solidFill>
          <a:ln w="2286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996696"/>
            <a:ext cx="457200" cy="45720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996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9875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49047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was needed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53328" y="868680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E3F2FD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996696"/>
            <a:ext cx="457200" cy="45720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996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93408" y="9875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490472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&amp; research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E0F2F1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304288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22951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2798064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formula &amp; system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176272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FBE9E7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64408" y="2304288"/>
            <a:ext cx="457200" cy="457200"/>
          </a:xfrm>
          <a:prstGeom prst="ellipse">
            <a:avLst/>
          </a:prstGeom>
          <a:solidFill>
            <a:srgbClr val="FFAB76"/>
          </a:solidFill>
          <a:ln w="12700">
            <a:solidFill>
              <a:srgbClr val="FFA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64408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22951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2798064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 &amp; app screens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53328" y="2176272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EDE7F6"/>
          </a:solidFill>
          <a:ln w="22860">
            <a:solidFill>
              <a:srgbClr val="CE93D8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63056" y="2304288"/>
            <a:ext cx="457200" cy="457200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63056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93408" y="22951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44768" y="2798064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&amp; validation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483864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FCE4EC"/>
          </a:solidFill>
          <a:ln w="22860">
            <a:solidFill>
              <a:srgbClr val="EF9A9A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457200" cy="457200"/>
          </a:xfrm>
          <a:prstGeom prst="ellipse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" y="360273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410565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54680" y="3483864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FBE9E7"/>
          </a:solidFill>
          <a:ln w="22860">
            <a:solidFill>
              <a:srgbClr val="FFD54F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64408" y="3611880"/>
            <a:ext cx="457200" cy="45720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64408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94760" y="360273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46120" y="410565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improvements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53328" y="3483864"/>
            <a:ext cx="2697480" cy="1115568"/>
          </a:xfrm>
          <a:prstGeom prst="roundRect">
            <a:avLst>
              <a:gd name="adj" fmla="val 14754"/>
            </a:avLst>
          </a:prstGeom>
          <a:solidFill>
            <a:srgbClr val="EDE7F6"/>
          </a:solidFill>
          <a:ln w="22860">
            <a:solidFill>
              <a:srgbClr val="B39DDB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63056" y="3611880"/>
            <a:ext cx="457200" cy="457200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63056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93408" y="360273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44768" y="410565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&amp; ACM sources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Introduction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931920"/>
          </a:xfrm>
          <a:prstGeom prst="roundRect">
            <a:avLst>
              <a:gd name="adj" fmla="val 4651"/>
            </a:avLst>
          </a:prstGeom>
          <a:solidFill>
            <a:srgbClr val="EDE7F6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594360" cy="59436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024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MaintainIQ?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27632"/>
            <a:ext cx="3822192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MaintainIQ is a Flutter-based mobile application that implements the COCOMO II mathematical model to estimate how much it costs to maintain a software system over 5 or more years.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complex software engineering formulas into a simple, user-friendly tool — giving project managers, developers and researchers accurate, data-driven cost projections at their fingertips.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supports both USD and PKR currencies, generates professional PDF reports, integrates Grok AI chatbot assistance, and delivers real Firebase push notifications.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3931920"/>
          </a:xfrm>
          <a:prstGeom prst="roundRect">
            <a:avLst>
              <a:gd name="adj" fmla="val 4651"/>
            </a:avLst>
          </a:prstGeom>
          <a:solidFill>
            <a:srgbClr val="FCE4EC"/>
          </a:solidFill>
          <a:ln w="2286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987552"/>
            <a:ext cx="594360" cy="59436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77840" y="1024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68249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168249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(Android &amp; iOS)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2039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0574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7648" y="20574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24323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243230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80720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27648" y="280720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AI Chatbot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3163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31821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3182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&amp; PKR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538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557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355701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 + Charts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Problem Statement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863840" y="3200400"/>
            <a:ext cx="2103120" cy="2103120"/>
          </a:xfrm>
          <a:prstGeom prst="ellipse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560320" cy="3977640"/>
          </a:xfrm>
          <a:prstGeom prst="roundRect">
            <a:avLst>
              <a:gd name="adj" fmla="val 7857"/>
            </a:avLst>
          </a:prstGeom>
          <a:solidFill>
            <a:srgbClr val="FFAB76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60–80%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0299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software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goes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463040" cy="146304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090672" y="868680"/>
            <a:ext cx="5687568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868680"/>
            <a:ext cx="5669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22192" y="9052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Estimation Method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22192" y="11978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lack structured mathematical tools to forecast long-term software maintenance costs accurately.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90672" y="1709928"/>
            <a:ext cx="5687568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1709928"/>
            <a:ext cx="5669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22192" y="17465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Overruns are Common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22192" y="20391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projections, maintenance costs routinely exceed planned budgets by 30–50%.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90672" y="2551176"/>
            <a:ext cx="5687568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2551176"/>
            <a:ext cx="5669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22192" y="25877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System Obsolescence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22192" y="28803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lifecycle cost analysis, systems are abandoned too early or maintained too long — both costly.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90672" y="3392424"/>
            <a:ext cx="5687568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3392424"/>
            <a:ext cx="5669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22192" y="3429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is Inaccessible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22192" y="37216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industry-standard COCOMO II model exists only in academic papers — no easy mobile tool existed before.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Literature Review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4206240" cy="1901952"/>
          </a:xfrm>
          <a:prstGeom prst="roundRect">
            <a:avLst>
              <a:gd name="adj" fmla="val 8654"/>
            </a:avLst>
          </a:prstGeom>
          <a:solidFill>
            <a:srgbClr val="EDE7F6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509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Boehm et al. (2000)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93192" y="13533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Model Definition Manual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71907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COCOMO II post-architecture model used as the mathematical core of MaintainIQ. Established that maintenance cost = 15–20% of dev cost per year.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841248"/>
            <a:ext cx="4206240" cy="1901952"/>
          </a:xfrm>
          <a:prstGeom prst="roundRect">
            <a:avLst>
              <a:gd name="adj" fmla="val 8654"/>
            </a:avLst>
          </a:prstGeom>
          <a:solidFill>
            <a:srgbClr val="E3F2FD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91456" y="95097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91456" y="9509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 et al. (2003)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18888" y="13533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Maintenance Costs via Metrics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71907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technical debt and code complexity are the two strongest predictors of rising maintenance cost — directly incorporated into our BaseRate formula.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2926080"/>
            <a:ext cx="4206240" cy="1901952"/>
          </a:xfrm>
          <a:prstGeom prst="roundRect">
            <a:avLst>
              <a:gd name="adj" fmla="val 8654"/>
            </a:avLst>
          </a:prstGeom>
          <a:solidFill>
            <a:srgbClr val="E0F2F1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Lehman's Laws (1980)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3192" y="343814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Software Evolution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80390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that software must continuously evolve or progressively become less useful — justifying the AgeFactor (4% increase per year) in our model.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81728" y="2926080"/>
            <a:ext cx="4206240" cy="1901952"/>
          </a:xfrm>
          <a:prstGeom prst="roundRect">
            <a:avLst>
              <a:gd name="adj" fmla="val 8654"/>
            </a:avLst>
          </a:prstGeom>
          <a:solidFill>
            <a:srgbClr val="FCE4EC"/>
          </a:solidFill>
          <a:ln w="2286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91456" y="303580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91456" y="30358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Piattini et al. (1996)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18888" y="343814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Maintainability Models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380390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that size, language, and team composition significantly affect maintenance effort — all captured in MaintainIQ's SizeFactor parameter.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🔢  Methodology &amp; Mathematical Model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685800"/>
          </a:xfrm>
          <a:prstGeom prst="roundRect">
            <a:avLst>
              <a:gd name="adj" fmla="val 20000"/>
            </a:avLst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Maintenance Cost  =  DevCost  ×  BaseRate  ×  SizeFactor  ×  AgeFactor  ×  InflationFactor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600200"/>
            <a:ext cx="1938528" cy="3200400"/>
          </a:xfrm>
          <a:prstGeom prst="roundRect">
            <a:avLst>
              <a:gd name="adj" fmla="val 9434"/>
            </a:avLst>
          </a:prstGeom>
          <a:solidFill>
            <a:srgbClr val="FCE4EC"/>
          </a:solidFill>
          <a:ln w="2286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719072"/>
            <a:ext cx="621792" cy="621792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" y="246888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90779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3236976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Complexity × 2.5%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3566160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TechDebt × 3%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600200"/>
            <a:ext cx="1938528" cy="3200400"/>
          </a:xfrm>
          <a:prstGeom prst="roundRect">
            <a:avLst>
              <a:gd name="adj" fmla="val 9434"/>
            </a:avLst>
          </a:prstGeom>
          <a:solidFill>
            <a:srgbClr val="E3F2FD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35808" y="1719072"/>
            <a:ext cx="621792" cy="621792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35808" y="1719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246888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AgeFactor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90779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+ (Age × 0.04)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236976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extra cost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3566160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of 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98848" y="1600200"/>
            <a:ext cx="1938528" cy="3200400"/>
          </a:xfrm>
          <a:prstGeom prst="roundRect">
            <a:avLst>
              <a:gd name="adj" fmla="val 9434"/>
            </a:avLst>
          </a:prstGeom>
          <a:solidFill>
            <a:srgbClr val="E0F2F1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57216" y="1719072"/>
            <a:ext cx="621792" cy="62179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57216" y="1719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98848" y="246888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SizeFactor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0288" y="290779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= 1.0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90288" y="3236976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= 1.3  Large = 1.6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90288" y="3566160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= 2.0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20256" y="1600200"/>
            <a:ext cx="1938528" cy="3200400"/>
          </a:xfrm>
          <a:prstGeom prst="roundRect">
            <a:avLst>
              <a:gd name="adj" fmla="val 9434"/>
            </a:avLst>
          </a:prstGeom>
          <a:solidFill>
            <a:srgbClr val="FBE9E7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78624" y="1719072"/>
            <a:ext cx="621792" cy="621792"/>
          </a:xfrm>
          <a:prstGeom prst="ellipse">
            <a:avLst/>
          </a:prstGeom>
          <a:solidFill>
            <a:srgbClr val="FFAB76"/>
          </a:solidFill>
          <a:ln w="12700">
            <a:solidFill>
              <a:srgbClr val="FFA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78624" y="1719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0256" y="246888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290779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per year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11696" y="3236976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11696" y="3566160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projection period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" y="4850892"/>
            <a:ext cx="8631936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&lt; 1.5× dev →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201875" y="48646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Healthy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92424" y="4846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1.5–3× dev →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24297" y="4857293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A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Refactor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9360" y="4846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&gt; 3× dev →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54035" y="4857293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Rebuild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53647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🏗️  System Architecture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724912" cy="4023360"/>
          </a:xfrm>
          <a:prstGeom prst="roundRect">
            <a:avLst>
              <a:gd name="adj" fmla="val 6711"/>
            </a:avLst>
          </a:prstGeom>
          <a:solidFill>
            <a:srgbClr val="EDE7F6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914400"/>
            <a:ext cx="676656" cy="676656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91440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" y="2286000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907792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&amp; Navigation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" y="3529584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PDF Viewer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80944" y="2834640"/>
            <a:ext cx="237744" cy="0"/>
          </a:xfrm>
          <a:prstGeom prst="line">
            <a:avLst/>
          </a:prstGeom>
          <a:noFill/>
          <a:ln w="3175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53512" y="27432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6FD6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18688" y="822960"/>
            <a:ext cx="2724912" cy="4023360"/>
          </a:xfrm>
          <a:prstGeom prst="roundRect">
            <a:avLst>
              <a:gd name="adj" fmla="val 6711"/>
            </a:avLst>
          </a:prstGeom>
          <a:solidFill>
            <a:srgbClr val="E3F2FD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42816" y="914400"/>
            <a:ext cx="676656" cy="676656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42816" y="91440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28416" y="1719072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2286000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9856" y="2304288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Engine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64992" y="2907792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19856" y="292608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CostCalculator Service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3529584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19856" y="354787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GeminiService / Grok 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834640"/>
            <a:ext cx="237744" cy="0"/>
          </a:xfrm>
          <a:prstGeom prst="line">
            <a:avLst/>
          </a:prstGeom>
          <a:noFill/>
          <a:ln w="3175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16168" y="27432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B5F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81344" y="822960"/>
            <a:ext cx="2724912" cy="4023360"/>
          </a:xfrm>
          <a:prstGeom prst="roundRect">
            <a:avLst>
              <a:gd name="adj" fmla="val 6711"/>
            </a:avLst>
          </a:prstGeom>
          <a:solidFill>
            <a:srgbClr val="E0F2F1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05472" y="914400"/>
            <a:ext cx="676656" cy="676656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05472" y="91440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91072" y="1719072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27648" y="2286000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82512" y="2304288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2907792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82512" y="292608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27648" y="3529584"/>
            <a:ext cx="2432304" cy="493776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82512" y="3547872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Notifications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869180"/>
            <a:ext cx="8631936" cy="274320"/>
          </a:xfrm>
          <a:prstGeom prst="roundRect">
            <a:avLst>
              <a:gd name="adj" fmla="val 46667"/>
            </a:avLst>
          </a:prstGeom>
          <a:solidFill>
            <a:srgbClr val="FFAB76"/>
          </a:solidFill>
          <a:ln w="12700">
            <a:solidFill>
              <a:srgbClr val="FFA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6032" y="4846320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Firebase Backend  —  Auth  •  Firestore DB  •  Cloud Messaging (FCM)  •  Real-time Sync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54035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Results &amp; Testing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955280" y="-274320"/>
            <a:ext cx="1828800" cy="182880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822960"/>
          <a:ext cx="51206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50992" y="384048"/>
            <a:ext cx="3127248" cy="713232"/>
          </a:xfrm>
          <a:prstGeom prst="roundRect">
            <a:avLst>
              <a:gd name="adj" fmla="val 19231"/>
            </a:avLst>
          </a:prstGeom>
          <a:solidFill>
            <a:srgbClr val="EDE7F6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87568" y="40233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B5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059168" y="490119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50992" y="1289304"/>
            <a:ext cx="3127248" cy="713232"/>
          </a:xfrm>
          <a:prstGeom prst="roundRect">
            <a:avLst>
              <a:gd name="adj" fmla="val 19231"/>
            </a:avLst>
          </a:prstGeom>
          <a:solidFill>
            <a:srgbClr val="FCE4EC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687568" y="127101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6F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$187K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59168" y="1356970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5yr Cost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50992" y="2212848"/>
            <a:ext cx="3127248" cy="713232"/>
          </a:xfrm>
          <a:prstGeom prst="roundRect">
            <a:avLst>
              <a:gd name="adj" fmla="val 19231"/>
            </a:avLst>
          </a:prstGeom>
          <a:solidFill>
            <a:srgbClr val="EDE7F6"/>
          </a:solidFill>
          <a:ln w="22860">
            <a:solidFill>
              <a:srgbClr val="EF9A9A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87568" y="225491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3.74x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059168" y="2318918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50992" y="3200400"/>
            <a:ext cx="3127248" cy="713232"/>
          </a:xfrm>
          <a:prstGeom prst="roundRect">
            <a:avLst>
              <a:gd name="adj" fmla="val 19231"/>
            </a:avLst>
          </a:prstGeom>
          <a:solidFill>
            <a:srgbClr val="FCE4EC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69280" y="325526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B6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59168" y="3291840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50992" y="4069080"/>
            <a:ext cx="3127248" cy="713232"/>
          </a:xfrm>
          <a:prstGeom prst="roundRect">
            <a:avLst>
              <a:gd name="adj" fmla="val 19231"/>
            </a:avLst>
          </a:prstGeom>
          <a:solidFill>
            <a:srgbClr val="EDE7F6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96712" y="408736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A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$41.9K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114032" y="4159605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" y="4782312"/>
            <a:ext cx="8595360" cy="347472"/>
          </a:xfrm>
          <a:prstGeom prst="roundRect">
            <a:avLst>
              <a:gd name="adj" fmla="val 47368"/>
            </a:avLst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15798" y="480974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Recommendation: Total cost (3.74×) exceeds threshold → Consider rebuilding the system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Conclusion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31936" cy="1371600"/>
          </a:xfrm>
          <a:prstGeom prst="roundRect">
            <a:avLst>
              <a:gd name="adj" fmla="val 13333"/>
            </a:avLst>
          </a:prstGeom>
          <a:solidFill>
            <a:srgbClr val="E0F2F1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98448" y="914400"/>
            <a:ext cx="7406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MaintainIQ successfully delivers a working, mathematically grounded mobile application that estimates software maintenance costs using the COCOMO II model. It bridges the gap between academic research and real-world usability — making a previously paper-only model accessible to students, developers and project managers on any smartphone.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331720"/>
            <a:ext cx="2029968" cy="2468880"/>
          </a:xfrm>
          <a:prstGeom prst="roundRect">
            <a:avLst>
              <a:gd name="adj" fmla="val 8108"/>
            </a:avLst>
          </a:prstGeom>
          <a:solidFill>
            <a:srgbClr val="EDE7F6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2423160"/>
            <a:ext cx="676656" cy="676656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24231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321868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Implemented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639312"/>
            <a:ext cx="181051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formula with BaseRate, AgeFactor, SizeFactor and Inflation correctly applied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331720"/>
            <a:ext cx="2029968" cy="2468880"/>
          </a:xfrm>
          <a:prstGeom prst="roundRect">
            <a:avLst>
              <a:gd name="adj" fmla="val 8108"/>
            </a:avLst>
          </a:prstGeom>
          <a:solidFill>
            <a:srgbClr val="E3F2FD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45536" y="2423160"/>
            <a:ext cx="676656" cy="676656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45536" y="24231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0" y="321868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Mobile App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78608" y="3639312"/>
            <a:ext cx="181051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screens, Firebase backend, real authentication, PDF generation and push notifications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81728" y="2331720"/>
            <a:ext cx="2029968" cy="2468880"/>
          </a:xfrm>
          <a:prstGeom prst="roundRect">
            <a:avLst>
              <a:gd name="adj" fmla="val 8108"/>
            </a:avLst>
          </a:prstGeom>
          <a:solidFill>
            <a:srgbClr val="FCE4EC"/>
          </a:solidFill>
          <a:ln w="2286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58384" y="2423160"/>
            <a:ext cx="676656" cy="676656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58384" y="24231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73168" y="321868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91456" y="3639312"/>
            <a:ext cx="181051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AI chatbot answers maintenance questions in both Urdu and English language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94576" y="2331720"/>
            <a:ext cx="2029968" cy="2468880"/>
          </a:xfrm>
          <a:prstGeom prst="roundRect">
            <a:avLst>
              <a:gd name="adj" fmla="val 8108"/>
            </a:avLst>
          </a:prstGeom>
          <a:solidFill>
            <a:srgbClr val="E0F2F1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71232" y="2423160"/>
            <a:ext cx="676656" cy="676656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71232" y="242316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86016" y="321868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Exportable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04304" y="3639312"/>
            <a:ext cx="181051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year-by-year tables, downloadable PDF reports and health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Future Work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0" y="3108960"/>
            <a:ext cx="2011680" cy="2011680"/>
          </a:xfrm>
          <a:prstGeom prst="ellipse">
            <a:avLst/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670048" cy="1737360"/>
          </a:xfrm>
          <a:prstGeom prst="roundRect">
            <a:avLst>
              <a:gd name="adj" fmla="val 9474"/>
            </a:avLst>
          </a:prstGeom>
          <a:solidFill>
            <a:srgbClr val="EDE7F6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38912" cy="43891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896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856232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full Urdu UI interface so Pakistani users can use the app entirely in their native language.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145536" y="804672"/>
            <a:ext cx="2670048" cy="1737360"/>
          </a:xfrm>
          <a:prstGeom prst="roundRect">
            <a:avLst>
              <a:gd name="adj" fmla="val 9474"/>
            </a:avLst>
          </a:prstGeom>
          <a:solidFill>
            <a:srgbClr val="E3F2FD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55264" y="914400"/>
            <a:ext cx="438912" cy="438912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55264" y="914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67328" y="896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55264" y="144475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Collaboration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73552" y="1856232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teams to share and jointly edit estimations in real-time using Firestore collaborative features.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035040" y="804672"/>
            <a:ext cx="2670048" cy="1737360"/>
          </a:xfrm>
          <a:prstGeom prst="roundRect">
            <a:avLst>
              <a:gd name="adj" fmla="val 9474"/>
            </a:avLst>
          </a:prstGeom>
          <a:solidFill>
            <a:srgbClr val="FCE4EC"/>
          </a:solidFill>
          <a:ln w="2286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44768" y="914400"/>
            <a:ext cx="438912" cy="438912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44768" y="914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56832" y="8961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44768" y="1444752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Auto-Estimation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63056" y="1856232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Grok AI auto-suggest complexity and tech-debt values by analyzing uploaded source code or GitHub links.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56032" y="2743200"/>
            <a:ext cx="2670048" cy="1737360"/>
          </a:xfrm>
          <a:prstGeom prst="roundRect">
            <a:avLst>
              <a:gd name="adj" fmla="val 9474"/>
            </a:avLst>
          </a:prstGeom>
          <a:solidFill>
            <a:srgbClr val="E0F2F1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852928"/>
            <a:ext cx="438912" cy="43891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852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" y="28346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338328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Cost Models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" y="379476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COCOMO II — add Function Point Analysis (FPA) and Use Case Point (UCP) models.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145536" y="2743200"/>
            <a:ext cx="2670048" cy="1737360"/>
          </a:xfrm>
          <a:prstGeom prst="roundRect">
            <a:avLst>
              <a:gd name="adj" fmla="val 9474"/>
            </a:avLst>
          </a:prstGeom>
          <a:solidFill>
            <a:srgbClr val="FBE9E7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55264" y="2852928"/>
            <a:ext cx="438912" cy="438912"/>
          </a:xfrm>
          <a:prstGeom prst="ellipse">
            <a:avLst/>
          </a:prstGeom>
          <a:solidFill>
            <a:srgbClr val="FFAB76"/>
          </a:solidFill>
          <a:ln w="12700">
            <a:solidFill>
              <a:srgbClr val="FFA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55264" y="2852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67328" y="28346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255264" y="338328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Dashboard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73552" y="379476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admin panel for organizations to track maintenance costs across multiple software projects.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035040" y="2743200"/>
            <a:ext cx="2670048" cy="1737360"/>
          </a:xfrm>
          <a:prstGeom prst="roundRect">
            <a:avLst>
              <a:gd name="adj" fmla="val 9474"/>
            </a:avLst>
          </a:prstGeom>
          <a:solidFill>
            <a:srgbClr val="EDE7F6"/>
          </a:solidFill>
          <a:ln w="22860">
            <a:solidFill>
              <a:srgbClr val="CE93D8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44768" y="2852928"/>
            <a:ext cx="438912" cy="438912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44768" y="2852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56832" y="28346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144768" y="338328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Risk Analysis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63056" y="379476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return-on-investment calculator and risk scoring to help decide rebuild vs maintain more precisely.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References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EDE7F6"/>
          </a:solidFill>
          <a:ln w="22860">
            <a:solidFill>
              <a:srgbClr val="9C6FD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42416"/>
            <a:ext cx="411480" cy="41148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42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896112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Boehm et al., "COCOMO II Model Definition Manual," Center for Software Engineering, USC, 2000.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FCE4EC"/>
          </a:solidFill>
          <a:ln w="22860">
            <a:solidFill>
              <a:srgbClr val="64B5F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42416"/>
            <a:ext cx="411480" cy="411480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42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48656" y="896112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Polo, M. Piattini, and I. Garcia-Rodriguez, "Decreasing the Maintenance Cost of COTS Software," IEEE Software, 2003.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EDE7F6"/>
          </a:solidFill>
          <a:ln w="22860">
            <a:solidFill>
              <a:srgbClr val="4DB6AC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066544"/>
            <a:ext cx="411480" cy="4114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1920240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M. Lehman, "Programs, Life Cycles and Laws of Software Evolution," Proc. IEEE, vol. 68, no. 9, pp. 1060–1076, 1980.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663440" y="1847088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FCE4EC"/>
          </a:solidFill>
          <a:ln w="22860">
            <a:solidFill>
              <a:srgbClr val="F06292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066544"/>
            <a:ext cx="411480" cy="411480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48656" y="1920240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Piattini and F. Ruiz, "A Model for Software Maintainability," ACM SIGSOFT, 1996.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56032" y="2871216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EDE7F6"/>
          </a:solidFill>
          <a:ln w="22860">
            <a:solidFill>
              <a:srgbClr val="FFAB76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090672"/>
            <a:ext cx="411480" cy="411480"/>
          </a:xfrm>
          <a:prstGeom prst="ellipse">
            <a:avLst/>
          </a:prstGeom>
          <a:solidFill>
            <a:srgbClr val="FFAB76"/>
          </a:solidFill>
          <a:ln w="12700">
            <a:solidFill>
              <a:srgbClr val="FFA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" y="2944368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L. Pfleeger and J. M. Atlee, Software Engineering: Theory and Practice, 4th ed. Prentice Hall, 2010.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FCE4EC"/>
          </a:solidFill>
          <a:ln w="22860">
            <a:solidFill>
              <a:srgbClr val="CE93D8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090672"/>
            <a:ext cx="411480" cy="411480"/>
          </a:xfrm>
          <a:prstGeom prst="ellipse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090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48656" y="2944368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S. Pressman, Software Engineering: A Practitioner's Approach, 8th ed. McGraw-Hill, 2014.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56032" y="3895344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EDE7F6"/>
          </a:solidFill>
          <a:ln w="22860">
            <a:solidFill>
              <a:srgbClr val="EF9A9A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4114800"/>
            <a:ext cx="411480" cy="411480"/>
          </a:xfrm>
          <a:prstGeom prst="ellipse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" y="3968496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Documentation — Cloud Firestore, Authentication, Cloud Messaging. Google LLC, 2024. [Online]. https://firebase.google.com/docs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663440" y="3895344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FCE4EC"/>
          </a:solidFill>
          <a:ln w="22860">
            <a:solidFill>
              <a:srgbClr val="B39DDB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4114800"/>
            <a:ext cx="411480" cy="411480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48656" y="3968496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D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Documentation — Flutter SDK. Google LLC, 2024. [Online]. https://flutter.dev/docs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548640"/>
            <a:ext cx="3200400" cy="320040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-457200"/>
            <a:ext cx="1645920" cy="1645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502920"/>
            <a:ext cx="7315200" cy="4206240"/>
          </a:xfrm>
          <a:prstGeom prst="roundRect">
            <a:avLst>
              <a:gd name="adj" fmla="val 6522"/>
            </a:avLst>
          </a:prstGeom>
          <a:solidFill>
            <a:srgbClr val="FFFFFF">
              <a:alpha val="78000"/>
            </a:srgbClr>
          </a:solidFill>
          <a:ln w="19050">
            <a:solidFill>
              <a:srgbClr val="B39DDB"/>
            </a:solidFill>
            <a:prstDash val="solid"/>
          </a:ln>
          <a:effectLst>
            <a:outerShdw blurRad="101600" dist="25400" dir="8100000" algn="bl" rotWithShape="0">
              <a:srgbClr val="B39DDB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69080" y="658368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2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45920" y="2359152"/>
            <a:ext cx="5852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hope MaintainIQ makes software cost estimation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easier, smarter and more accessible for everyone 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67328" y="3127248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33088" y="3127248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98848" y="3127248"/>
            <a:ext cx="128016" cy="128016"/>
          </a:xfrm>
          <a:prstGeom prst="ellipse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64608" y="3127248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30368" y="3127248"/>
            <a:ext cx="128016" cy="128016"/>
          </a:xfrm>
          <a:prstGeom prst="ellipse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3346704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6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Ali (044)  •  Rayyan Hussain (046)  •  Areej (048)  •  Bushra (049)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402336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 Model  |  Grok AI  |  Flutter  |  Group 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1229</Words>
  <Application>Microsoft Office PowerPoint</Application>
  <PresentationFormat>On-screen Show (16:9)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MaintainIQ — Academic Presentation</dc:title>
  <dc:subject>PptxGenJS Presentation</dc:subject>
  <dc:creator>PptxGenJS</dc:creator>
  <cp:lastModifiedBy>bushra waseem</cp:lastModifiedBy>
  <cp:revision>4</cp:revision>
  <dcterms:created xsi:type="dcterms:W3CDTF">2026-04-20T22:10:03Z</dcterms:created>
  <dcterms:modified xsi:type="dcterms:W3CDTF">2026-04-27T16:36:05Z</dcterms:modified>
</cp:coreProperties>
</file>